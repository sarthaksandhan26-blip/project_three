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orgia" panose="02040502050405020303" pitchFamily="18" charset="0"/>
      <p:regular r:id="rId13"/>
      <p:bold r:id="rId14"/>
      <p:italic r:id="rId15"/>
      <p:boldItalic r:id="rId16"/>
    </p:embeddedFont>
    <p:embeddedFont>
      <p:font typeface="Platypi Medium" panose="020B0604020202020204" charset="0"/>
      <p:regular r:id="rId17"/>
    </p:embeddedFont>
    <p:embeddedFont>
      <p:font typeface="Source Serif 4" panose="020B0604020202020204" charset="0"/>
      <p:regular r:id="rId18"/>
    </p:embeddedFont>
    <p:embeddedFont>
      <p:font typeface="Source Serif 4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2889AC-837D-4A91-8C7F-7714CE59E56F}" v="16" dt="2026-07-17T01:36:06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8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06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0092" y="1617773"/>
            <a:ext cx="12120645" cy="77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Exploratory Data Analysis of Large-Scale Retail Transaction Data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7843" y="3184578"/>
            <a:ext cx="11834157" cy="339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defTabSz="457200">
              <a:spcAft>
                <a:spcPts val="1650"/>
              </a:spcAft>
              <a:buNone/>
            </a:pP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Presented by :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Sarthak Sandhan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Class :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</a:rPr>
              <a:t>Integrated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</a:rPr>
              <a:t>B.Tech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</a:rPr>
              <a:t> (Computer Science Engineering)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College name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: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</a:rPr>
              <a:t>Sanjivani University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Tools &amp; Technologies :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</a:rPr>
              <a:t>Python • Pandas • NumPy • Matplotlib • Seaborn • SciPy</a:t>
            </a:r>
            <a:endParaRPr lang="en-US" sz="2800" dirty="0">
              <a:latin typeface="Aptos" panose="020B0004020202020204" pitchFamily="34" charset="0"/>
            </a:endParaRPr>
          </a:p>
          <a:p>
            <a:pPr marL="0" indent="0" algn="l">
              <a:spcAft>
                <a:spcPts val="1650"/>
              </a:spcAft>
              <a:buNone/>
            </a:pPr>
            <a:endParaRPr lang="en-US" sz="2800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03749167-D67E-798A-5063-1C761D3470BC}"/>
              </a:ext>
            </a:extLst>
          </p:cNvPr>
          <p:cNvSpPr/>
          <p:nvPr/>
        </p:nvSpPr>
        <p:spPr>
          <a:xfrm>
            <a:off x="11100084" y="6577919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590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01B18"/>
                </a:solidFill>
                <a:latin typeface="Georgia" panose="02040502050405020303" pitchFamily="18" charset="0"/>
                <a:ea typeface="Platypi Bold" pitchFamily="34" charset="-122"/>
                <a:cs typeface="Platypi Bold" pitchFamily="34" charset="-120"/>
              </a:rPr>
              <a:t>Introduction</a:t>
            </a:r>
            <a:endParaRPr lang="en-US" sz="2800" dirty="0">
              <a:latin typeface="Georgia" panose="020405020504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1681857"/>
            <a:ext cx="10868745" cy="1391543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1870869"/>
            <a:ext cx="104907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tx2">
                    <a:lumMod val="50000"/>
                  </a:schemeClr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EDA?</a:t>
            </a:r>
            <a:endParaRPr lang="en-US" sz="185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50482" y="2279551"/>
            <a:ext cx="1049073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tx2">
                    <a:lumMod val="75000"/>
                  </a:scheme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Systematic examination of data to summarize main characteristics, detect patterns, and surface anomalies before modeling.</a:t>
            </a:r>
            <a:endParaRPr lang="en-US" sz="14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61475" y="3262412"/>
            <a:ext cx="10868745" cy="1391543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850482" y="3451423"/>
            <a:ext cx="104907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tx2">
                    <a:lumMod val="50000"/>
                  </a:schemeClr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EDA matters</a:t>
            </a:r>
            <a:endParaRPr lang="en-US" sz="185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50482" y="3860105"/>
            <a:ext cx="1049073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tx2">
                    <a:lumMod val="75000"/>
                  </a:scheme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Reduces model risk, improves feature selection, and uncovers biases or data quality issues that affect business decisions.</a:t>
            </a:r>
            <a:endParaRPr lang="en-US" sz="14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61475" y="4842966"/>
            <a:ext cx="10868745" cy="1089124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850482" y="5031978"/>
            <a:ext cx="104907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tx2">
                    <a:lumMod val="50000"/>
                  </a:schemeClr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objectives</a:t>
            </a:r>
            <a:endParaRPr lang="en-US" sz="185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50482" y="5440660"/>
            <a:ext cx="1049073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tx2">
                    <a:lumMod val="75000"/>
                  </a:scheme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Understand data, discover patterns, detect anomalies, and prepare datasets for Machine Learning.</a:t>
            </a:r>
            <a:endParaRPr lang="en-US" sz="14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08E8071A-8E1B-19A6-2757-92EA601F312C}"/>
              </a:ext>
            </a:extLst>
          </p:cNvPr>
          <p:cNvSpPr/>
          <p:nvPr/>
        </p:nvSpPr>
        <p:spPr>
          <a:xfrm>
            <a:off x="11099778" y="6568743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523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Dataset Overview</a:t>
            </a:r>
            <a:endParaRPr lang="en-US" sz="3200" b="1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5430" y="1861244"/>
            <a:ext cx="5491515" cy="3722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500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Georgia" panose="02040502050405020303" pitchFamily="18" charset="0"/>
                <a:ea typeface="Cambria" panose="02040503050406030204" pitchFamily="18" charset="0"/>
                <a:cs typeface="Source Serif 4 Bold" pitchFamily="34" charset="-120"/>
              </a:rPr>
              <a:t>Size:</a:t>
            </a: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Cambria" panose="02040503050406030204" pitchFamily="18" charset="0"/>
                <a:cs typeface="Source Serif 4" pitchFamily="34" charset="-120"/>
              </a:rPr>
              <a:t> 100,000 rows </a:t>
            </a:r>
          </a:p>
          <a:p>
            <a:pPr marL="0" indent="0" algn="l">
              <a:lnSpc>
                <a:spcPct val="2500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Georgia" panose="02040502050405020303" pitchFamily="18" charset="0"/>
                <a:ea typeface="Cambria" panose="02040503050406030204" pitchFamily="18" charset="0"/>
                <a:cs typeface="Source Serif 4 Bold" pitchFamily="34" charset="-120"/>
              </a:rPr>
              <a:t>Columns:</a:t>
            </a: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Cambria" panose="02040503050406030204" pitchFamily="18" charset="0"/>
                <a:cs typeface="Source Serif 4" pitchFamily="34" charset="-120"/>
              </a:rPr>
              <a:t> 18</a:t>
            </a:r>
            <a:endParaRPr lang="en-US" sz="1600" dirty="0">
              <a:latin typeface="Georgia" panose="02040502050405020303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ct val="2500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Georgia" panose="02040502050405020303" pitchFamily="18" charset="0"/>
                <a:ea typeface="Cambria" panose="02040503050406030204" pitchFamily="18" charset="0"/>
                <a:cs typeface="Source Serif 4 Bold" pitchFamily="34" charset="-120"/>
              </a:rPr>
              <a:t>Data types:</a:t>
            </a: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Cambria" panose="02040503050406030204" pitchFamily="18" charset="0"/>
                <a:cs typeface="Source Serif 4" pitchFamily="34" charset="-120"/>
              </a:rPr>
              <a:t> Numerical, Categorical, Date</a:t>
            </a:r>
            <a:endParaRPr lang="en-US" sz="1600" dirty="0">
              <a:latin typeface="Georgia" panose="02040502050405020303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ct val="2500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Georgia" panose="02040502050405020303" pitchFamily="18" charset="0"/>
                <a:ea typeface="Cambria" panose="02040503050406030204" pitchFamily="18" charset="0"/>
                <a:cs typeface="Source Serif 4 Bold" pitchFamily="34" charset="-120"/>
              </a:rPr>
              <a:t>Example columns:</a:t>
            </a: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Cambria" panose="02040503050406030204" pitchFamily="18" charset="0"/>
                <a:cs typeface="Source Serif 4" pitchFamily="34" charset="-120"/>
              </a:rPr>
              <a:t> Age, Product Price, Final Price, Product Category, Customer Segment, Payment Method, Shipping Type.</a:t>
            </a:r>
            <a:endParaRPr lang="en-US" sz="1600" dirty="0">
              <a:latin typeface="Georgia" panose="02040502050405020303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332776" y="1903809"/>
            <a:ext cx="5203794" cy="3806230"/>
          </a:xfrm>
          <a:prstGeom prst="roundRect">
            <a:avLst>
              <a:gd name="adj" fmla="val 74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39126" y="1910159"/>
            <a:ext cx="5191094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339225" y="1910159"/>
            <a:ext cx="2595498" cy="541933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7" name="Text 5"/>
          <p:cNvSpPr/>
          <p:nvPr/>
        </p:nvSpPr>
        <p:spPr>
          <a:xfrm>
            <a:off x="6528232" y="2029916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Column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934723" y="1910159"/>
            <a:ext cx="2595498" cy="541933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9" name="Text 7"/>
          <p:cNvSpPr/>
          <p:nvPr/>
        </p:nvSpPr>
        <p:spPr>
          <a:xfrm>
            <a:off x="9126904" y="2029916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Type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39126" y="2452092"/>
            <a:ext cx="5191094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28232" y="2571849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26904" y="2571849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Numerical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39126" y="2994025"/>
            <a:ext cx="5191094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28232" y="3113782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product_price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26904" y="3113782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Numerical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39126" y="3535958"/>
            <a:ext cx="5191094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528232" y="3655715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final_price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26904" y="3655715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Numerical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39126" y="4077891"/>
            <a:ext cx="5191094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528232" y="4197648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product_category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126904" y="4197648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Categorical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39126" y="4619823"/>
            <a:ext cx="5191094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28232" y="4739580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customer_segment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26904" y="4739580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Categorical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339126" y="5161756"/>
            <a:ext cx="5191094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28232" y="5281513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payment_method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126904" y="5281513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Categorical</a:t>
            </a:r>
            <a:endParaRPr lang="en-US" sz="1450" dirty="0"/>
          </a:p>
        </p:txBody>
      </p:sp>
      <p:sp>
        <p:nvSpPr>
          <p:cNvPr id="29" name="Flowchart: Terminator 28">
            <a:extLst>
              <a:ext uri="{FF2B5EF4-FFF2-40B4-BE49-F238E27FC236}">
                <a16:creationId xmlns:a16="http://schemas.microsoft.com/office/drawing/2014/main" id="{8A31711C-1989-3EC1-26B7-0473B15947D2}"/>
              </a:ext>
            </a:extLst>
          </p:cNvPr>
          <p:cNvSpPr/>
          <p:nvPr/>
        </p:nvSpPr>
        <p:spPr>
          <a:xfrm>
            <a:off x="11099778" y="6568743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1152723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Univariate Analysis</a:t>
            </a:r>
            <a:endParaRPr lang="en-US" sz="2800" b="1" dirty="0">
              <a:latin typeface="Georgia" panose="02040502050405020303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908671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2062" y="1908671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Descriptive statistics</a:t>
            </a:r>
            <a:endParaRPr lang="en-US" sz="185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942062" y="2317353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Mean, Median, Std Dev, Min, Max, Skewness, Kurtosis — computed for key numeric fields.</a:t>
            </a:r>
            <a:endParaRPr lang="en-US" sz="1450" dirty="0">
              <a:latin typeface="Georgia" panose="02040502050405020303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300214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2062" y="3281362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Visuals</a:t>
            </a:r>
            <a:endParaRPr lang="en-US" sz="185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5942062" y="3708896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Histogram, Boxplot, Countplot used to show distributions and class balances.</a:t>
            </a:r>
            <a:endParaRPr lang="en-US" sz="1450" dirty="0">
              <a:latin typeface="Georgia" panose="02040502050405020303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691757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42062" y="4691757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Key insights</a:t>
            </a:r>
            <a:endParaRPr lang="en-US" sz="185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5942062" y="5100439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Product price distribution is right-skewed; extreme final prices exist; regular customers dominate transaction counts.</a:t>
            </a:r>
            <a:endParaRPr lang="en-US" sz="1450" dirty="0">
              <a:latin typeface="Georgia" panose="02040502050405020303" pitchFamily="18" charset="0"/>
            </a:endParaRP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EF8F2E12-358F-EA7B-1BEA-9881D457D512}"/>
              </a:ext>
            </a:extLst>
          </p:cNvPr>
          <p:cNvSpPr/>
          <p:nvPr/>
        </p:nvSpPr>
        <p:spPr>
          <a:xfrm>
            <a:off x="11099778" y="6568743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D35AB6-8206-E802-B545-1C6CC28A9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198" y="-1"/>
            <a:ext cx="5004324" cy="6858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6560" y="1026418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Outlier Detection</a:t>
            </a:r>
            <a:endParaRPr lang="en-US" sz="3200" b="1" dirty="0">
              <a:latin typeface="Georgia" panose="0204050205040502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56560" y="178629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Methods applied: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56560" y="2376102"/>
            <a:ext cx="629686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Boxplot visualization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IQR method (Q1 - 1.5*IQR, Q3 + 1.5*IQR)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Z-score thresholding for extreme values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56560" y="379977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Observations: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56560" y="4486441"/>
            <a:ext cx="9794605" cy="1784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High-value premium purchases and bulk orders identified</a:t>
            </a:r>
            <a:endParaRPr lang="en-US" dirty="0"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Delivery time extremes linked to rural shipments and exceptions</a:t>
            </a:r>
            <a:endParaRPr lang="en-US" dirty="0"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Decision: Outliers retained — represent valid, high-value business events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949907A9-4720-533B-46D6-FF11B576F4E0}"/>
              </a:ext>
            </a:extLst>
          </p:cNvPr>
          <p:cNvSpPr/>
          <p:nvPr/>
        </p:nvSpPr>
        <p:spPr>
          <a:xfrm>
            <a:off x="11099778" y="6568743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235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Bivariate Analysis</a:t>
            </a:r>
            <a:endParaRPr lang="en-US" sz="3200" b="1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808361"/>
            <a:ext cx="5246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Source Serif 4 Bold" pitchFamily="34" charset="-122"/>
                <a:cs typeface="Source Serif 4 Bold" pitchFamily="34" charset="-120"/>
              </a:rPr>
              <a:t>Relationships examined:</a:t>
            </a:r>
            <a:endParaRPr lang="en-US" sz="20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2280841"/>
            <a:ext cx="4637269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Product Price vs Final Price (price effects)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Quantity vs Final Price (volume impact)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Customer Segment vs Spending (behavioral differences)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Shipping Type vs Delivery Days (logistics)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1475" y="4161234"/>
            <a:ext cx="5246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Source Serif 4 Bold" pitchFamily="34" charset="-122"/>
                <a:cs typeface="Source Serif 4 Bold" pitchFamily="34" charset="-120"/>
              </a:rPr>
              <a:t>Business insights:</a:t>
            </a:r>
            <a:endParaRPr lang="en-US" sz="20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1475" y="4633714"/>
            <a:ext cx="4637269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Premium customers spend more per transaction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Express shipping significantly reduces delivery time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509318" y="3135859"/>
            <a:ext cx="3366127" cy="536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</a:rPr>
              <a:t>Boxplot Category vs Final Price</a:t>
            </a:r>
          </a:p>
        </p:txBody>
      </p:sp>
      <p:sp>
        <p:nvSpPr>
          <p:cNvPr id="9" name="Text 6"/>
          <p:cNvSpPr/>
          <p:nvPr/>
        </p:nvSpPr>
        <p:spPr>
          <a:xfrm>
            <a:off x="5542870" y="3855424"/>
            <a:ext cx="3247472" cy="2446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</a:rPr>
              <a:t>Final prices vary across product categories, with all categories exhibiting a wide range of values and several high-price outliers.</a:t>
            </a:r>
          </a:p>
        </p:txBody>
      </p:sp>
      <p:sp>
        <p:nvSpPr>
          <p:cNvPr id="11" name="Text 7"/>
          <p:cNvSpPr/>
          <p:nvPr/>
        </p:nvSpPr>
        <p:spPr>
          <a:xfrm>
            <a:off x="9329532" y="3084565"/>
            <a:ext cx="251874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Segment Spending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359275" y="3855424"/>
            <a:ext cx="2474159" cy="1391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Premium segment leads average spend.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BF674BCA-F798-8C07-38A7-E832490C5A43}"/>
              </a:ext>
            </a:extLst>
          </p:cNvPr>
          <p:cNvSpPr/>
          <p:nvPr/>
        </p:nvSpPr>
        <p:spPr>
          <a:xfrm>
            <a:off x="11099778" y="6568743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EF5C00-CDE7-AB12-53C4-182286E33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870" y="555668"/>
            <a:ext cx="3247472" cy="2470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E6F01E-F12F-E1F6-ED49-C63639FD3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297" y="555668"/>
            <a:ext cx="3018395" cy="24705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710704"/>
            <a:ext cx="6296860" cy="44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Correlation Analysis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1415554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Method</a:t>
            </a:r>
            <a:r>
              <a:rPr lang="en-US" b="1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: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Pearson correlation on numeric features with heatmap visualization.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61475" y="2167632"/>
            <a:ext cx="6296860" cy="1028204"/>
          </a:xfrm>
          <a:prstGeom prst="roundRect">
            <a:avLst>
              <a:gd name="adj" fmla="val 2620"/>
            </a:avLst>
          </a:prstGeom>
          <a:solidFill>
            <a:srgbClr val="FBE2D1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40957" y="2347119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Strong positive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0957" y="2729905"/>
            <a:ext cx="5937895" cy="28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Product Price ↔ Final Price; Quantity ↔ Final Price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61475" y="3366393"/>
            <a:ext cx="6296860" cy="1308298"/>
          </a:xfrm>
          <a:prstGeom prst="roundRect">
            <a:avLst>
              <a:gd name="adj" fmla="val 2059"/>
            </a:avLst>
          </a:prstGeom>
          <a:solidFill>
            <a:srgbClr val="FBE2D1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40957" y="3545880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Negative</a:t>
            </a:r>
            <a:endParaRPr lang="en-US" b="1" dirty="0">
              <a:latin typeface="Georgia" panose="020405020504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40957" y="3928666"/>
            <a:ext cx="5937895" cy="566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Discount Percentage ↔ Revenue (higher discounts reduce per-transaction revenue)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61475" y="4845248"/>
            <a:ext cx="6296860" cy="1301948"/>
          </a:xfrm>
          <a:prstGeom prst="roundRect">
            <a:avLst>
              <a:gd name="adj" fmla="val 2069"/>
            </a:avLst>
          </a:prstGeom>
          <a:solidFill>
            <a:srgbClr val="FBE2D1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40957" y="5024735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Multicollinearity</a:t>
            </a:r>
            <a:endParaRPr lang="en-US" b="1" dirty="0">
              <a:latin typeface="Georgia" panose="020405020504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40957" y="5407521"/>
            <a:ext cx="593789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No problematic multicollinearity detected — safe for most modeling approaches.</a:t>
            </a:r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E5CD21F-7EE4-8DEA-9DA9-7D0F4DB27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7" y="0"/>
            <a:ext cx="505418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49175" y="570395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Multivariate Analysis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81852" y="1554910"/>
            <a:ext cx="6296860" cy="81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Explored interactions across three or more variables to reveal conditional patterns: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81851" y="2459950"/>
            <a:ext cx="6497533" cy="2596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Product Category × Discount × Final Price — Electronics show steep revenue gains with moderate discounts.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Customer Segment × Age × Spending — Premium customers aged 30–45 have highest Spend.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Delivery Days × Shipping Type × Return Status — Longer delivery correlates with increased return probability.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381852" y="533647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Visuals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: Heatmap and pairplot used to surface interaction effects.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C0DCCED5-3979-E68D-373F-177359192B17}"/>
              </a:ext>
            </a:extLst>
          </p:cNvPr>
          <p:cNvSpPr/>
          <p:nvPr/>
        </p:nvSpPr>
        <p:spPr>
          <a:xfrm>
            <a:off x="11099778" y="6568743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1F7984-3B46-1412-53E9-64AB6F2CF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4092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322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Business Insights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63725"/>
            <a:ext cx="3496877" cy="20471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07813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Revenue shape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77479" y="2486819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Revenue distribution is right-skewed — a small number of high-value orders drive large share of revenue.</a:t>
            </a:r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1863725"/>
            <a:ext cx="3496877" cy="2047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07813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Customer value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663363" y="2486819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Premium customers contribute disproportionately to revenue; prioritize retention and targeted offers.</a:t>
            </a:r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1863725"/>
            <a:ext cx="3496877" cy="2047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07813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Discount strategy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349247" y="2486819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Moderate discounts increase volume without overly eroding revenue; deep discounts reduce margin.</a:t>
            </a:r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4417" y="4099917"/>
            <a:ext cx="3496877" cy="17447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820421" y="431432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Logistics impact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2820421" y="4723011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Longer delivery times increase return probability — optimize shipping mix to reduce returns.</a:t>
            </a:r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4099917"/>
            <a:ext cx="3496877" cy="17447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06305" y="431432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Category focus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6506305" y="4723011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Electronics drives highest revenue — consider inventory and promotion prioritization.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36C2270A-4FCF-4127-EBE4-F88D6C8DFF29}"/>
              </a:ext>
            </a:extLst>
          </p:cNvPr>
          <p:cNvSpPr/>
          <p:nvPr/>
        </p:nvSpPr>
        <p:spPr>
          <a:xfrm>
            <a:off x="11099778" y="6568743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4" y="109859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Conclusion &amp; Next Steps</a:t>
            </a:r>
            <a:endParaRPr lang="en-US" sz="3200" b="1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2107928"/>
            <a:ext cx="5813379" cy="60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Source Serif 4 Bold" pitchFamily="34" charset="-122"/>
                <a:cs typeface="Source Serif 4 Bold" pitchFamily="34" charset="-120"/>
              </a:rPr>
              <a:t>Completed</a:t>
            </a:r>
            <a:endParaRPr lang="en-US" sz="20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4" y="2876153"/>
            <a:ext cx="5434525" cy="166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Univariate, Bivariate, Multivariate analyses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Correlation and Outlier detection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Visualizations and business-level interpretations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3934" y="4826143"/>
            <a:ext cx="9748619" cy="68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Source Serif 4 Bold" pitchFamily="34" charset="-122"/>
                <a:cs typeface="Source Serif 4 Bold" pitchFamily="34" charset="-120"/>
              </a:rPr>
              <a:t>Libraries used: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Pandas, NumPy, Matplotlib, Seaborn,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</a:rPr>
              <a:t>SciPy Stats, Warnings.</a:t>
            </a:r>
          </a:p>
        </p:txBody>
      </p:sp>
      <p:sp>
        <p:nvSpPr>
          <p:cNvPr id="6" name="Text 4"/>
          <p:cNvSpPr/>
          <p:nvPr/>
        </p:nvSpPr>
        <p:spPr>
          <a:xfrm>
            <a:off x="6332776" y="2036882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Source Serif 4 Bold" pitchFamily="34" charset="-122"/>
                <a:cs typeface="Source Serif 4 Bold" pitchFamily="34" charset="-120"/>
              </a:rPr>
              <a:t>Future scope</a:t>
            </a:r>
            <a:endParaRPr lang="en-US" sz="2000" dirty="0">
              <a:solidFill>
                <a:schemeClr val="tx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26424" y="2717790"/>
            <a:ext cx="5793261" cy="172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Predictive modeling (sales forecasting).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Customer segmentation and CLV modeling.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Recommendation systems and personalized promotions.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B8518383-B4BF-52F0-DD6B-E4831C8A5B68}"/>
              </a:ext>
            </a:extLst>
          </p:cNvPr>
          <p:cNvSpPr/>
          <p:nvPr/>
        </p:nvSpPr>
        <p:spPr>
          <a:xfrm>
            <a:off x="11099778" y="6568743"/>
            <a:ext cx="1019908" cy="222739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Page 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35CC79-A45C-5951-FC81-892413575E6C}"/>
              </a:ext>
            </a:extLst>
          </p:cNvPr>
          <p:cNvSpPr txBox="1"/>
          <p:nvPr/>
        </p:nvSpPr>
        <p:spPr>
          <a:xfrm>
            <a:off x="3809847" y="5766156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Cambria" panose="02040503050406030204" pitchFamily="18" charset="0"/>
              </a:rPr>
              <a:t>Thank You</a:t>
            </a:r>
            <a:br>
              <a:rPr lang="en-US" sz="28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Cambria" panose="02040503050406030204" pitchFamily="18" charset="0"/>
              </a:rPr>
            </a:b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Georgia" panose="02040502050405020303" pitchFamily="18" charset="0"/>
                <a:ea typeface="Cambria" panose="02040503050406030204" pitchFamily="18" charset="0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666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Georgia</vt:lpstr>
      <vt:lpstr>Platypi Medium</vt:lpstr>
      <vt:lpstr>Arial</vt:lpstr>
      <vt:lpstr>Aptos</vt:lpstr>
      <vt:lpstr>Source Serif 4 Bold</vt:lpstr>
      <vt:lpstr>Source Serif 4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Sarthak Sandhan</dc:creator>
  <cp:lastModifiedBy>Sarthak Sandhan</cp:lastModifiedBy>
  <cp:revision>5</cp:revision>
  <dcterms:created xsi:type="dcterms:W3CDTF">2026-07-16T16:00:08Z</dcterms:created>
  <dcterms:modified xsi:type="dcterms:W3CDTF">2026-07-18T11:14:05Z</dcterms:modified>
</cp:coreProperties>
</file>